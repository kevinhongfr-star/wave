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88"/>
                </a:solidFill>
                <a:latin typeface="Calibri"/>
              </a:defRPr>
            </a:pPr>
            <a:r>
              <a:t>AI-Native Marketing Infrastructure for LYC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962E"/>
                </a:solidFill>
                <a:latin typeface="Calibri"/>
              </a:defRPr>
            </a:pPr>
            <a:r>
              <a:t>"Know where you stand. Know where to go."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Internal Marketing Engine  •  Not for Sale  •  Not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Confidential  |  July 2026  |  Kevin Hong, 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3F"/>
                </a:solidFill>
                <a:latin typeface="Calibri"/>
              </a:defRPr>
            </a:pPr>
            <a:r>
              <a:t>Professional services firms run their marketing engine on duct tape.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Content planned in Notion → assets in Canva → distributed via Buffer → leads in HubSpot → BD in spreadsheets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6-8 tools, zero integration, constant context-switching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Marketing teams spend 60% of time on coordination, 40% on strategy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connection between diagnostic insights and content delivery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B2C buyers fall into a black hole after purchase — no automated nurture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B2B signals from existing clients go undetected for months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The cost: A 9-person marketing team operates like a 3-person team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because their tools don't talk to each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3F"/>
                </a:solidFill>
                <a:latin typeface="Calibri"/>
              </a:defRPr>
            </a:pPr>
            <a:r>
              <a:t>WAVE + VISTA + DEX AI: One AI-native marketing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Inbound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Content → Distribution</a:t>
            </a:r>
            <a:br/>
            <a:r>
              <a:t>→ Journeys →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74720" cy="2286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Outbound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Pipeline → Outreach</a:t>
            </a:r>
            <a:br/>
            <a:r>
              <a:t>→ Account Mgmt →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474720" cy="228600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DEX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Client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Assessment Delivery</a:t>
            </a:r>
            <a:br/>
            <a:r>
              <a:t>→ Results →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All three share one database (Supabase). Zero integration latency.</a:t>
            </a:r>
            <a:br/>
            <a:r>
              <a:t>AI orchestration (NEXUS) coordinates everything.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Key insight: We don't sell the platform. We use the platform to generate revenue.</a:t>
            </a:r>
            <a:br/>
            <a:r>
              <a:t>The platform is our competitive moat.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WAVE — BUSINESS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Marketing operations platform for LYC Partners' inbound demand generation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Command center — KPIs, priorities,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Zero-blindspot operations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Calendar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Editorial planning with AI gap detection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 faster planning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Template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Notion-style editor + AI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5x faster creation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Distribution Engine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5-channel publishing + email sequences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Automated multi-channel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B2C Journey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 builder, 12 node types, cross-sell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Zero-human nurture funnel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Repurposing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webinar → 10+ derivatives automatically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10x content multiplication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Events &amp;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Event creation, forms, payments,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End-to-end event ops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Analytics &amp; Intelligence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Campaign ROI, revenue attribution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Data-driven decisions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8 modules  •  393 development tickets  •  1,241 hours of detailed spec  •  All connected to Supabase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3F"/>
                </a:solidFill>
                <a:latin typeface="Calibri"/>
              </a:defRPr>
            </a:pPr>
            <a:r>
              <a:t>Why build internally instead of buying HubSpot at $10K+/year?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Digital marketing software market: $112B (2025) → $492B by 2035 (16.4% CAGR)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AI-powered marketing: fastest-growing segment (23.7% CAGR for AI content generation)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Marketing automation: 11.5% CAGR through 2032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Professional services remain underserved: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Enterprise tools (HubSpot, Marketo) too generic, require $10K-$15K/year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SMB tools lack sophistication for diagnostic-driven marketing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No platform connects assessment results → automated content journeys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Our approach: Purpose-built, AI-native, integrated with own diagnostic products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63% lower cost than HubSpot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Makes LYC operate like a 50-person marketing team with 9 people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— That operational leverage is the 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Source: Precedence Research — Digital Marketing Software Market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3F"/>
                </a:solidFill>
                <a:latin typeface="Calibri"/>
              </a:defRPr>
            </a:pPr>
            <a:r>
              <a:t>Revenue through the platform, not from the platform.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Channel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B2C Assessments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$300K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Engagements (WAVE-sourced)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$600K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$1.2M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Council 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$750K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$325K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$1.05M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$2.25M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3F"/>
                </a:solidFill>
                <a:latin typeface="Calibri"/>
              </a:defRPr>
            </a:pPr>
            <a:r>
              <a:t>Unit Economics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4805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B2C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B2B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&lt;$50 (content-driven)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&lt;$500 (signal-detected)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$295-$395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$25K-$150K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LTV:CAC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50:1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Infrastructure cost: ~$330/month  |  vs. HubSpot at $890/month (63% cheaper, more capable)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ADVANTAGE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HubSpot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ActiveCampaign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Build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WAVE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$3K-$15K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$50K-$200K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$4,068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AI-native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(DeepSeek, 10+ personas)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Diagnostic →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signal detection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Built-in (6 types)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Cross-sell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Diagnostic-triggered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 services fit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Generic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Generic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Purpose-built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UX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Notion/Linear-level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Moat: WAVE encodes LYC's specific go-to-market logic (7 clusters, 11 products,</a:t>
            </a:r>
            <a:br/>
            <a:r>
              <a:t>diagnostic → content → cross-sell → Council path). No generic tool can replicate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IDEAL CUSTOMER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PRIMARY: B2C Assessment Buyer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Mid-career professionals (30-55)</a:t>
            </a:r>
            <a:br/>
            <a:r>
              <a:t>Director/VP level</a:t>
            </a:r>
            <a:br/>
            <a:r>
              <a:t>$80K-$300K income</a:t>
            </a:r>
            <a:br/>
            <a:r>
              <a:t>Self-improvement oriented</a:t>
            </a:r>
            <a:br/>
            <a:r>
              <a:t>Data-driven decision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Journey: Content → Newsletter</a:t>
            </a:r>
            <a:br/>
            <a:r>
              <a:t>→ LEAP ($295) → PRISM ($495)</a:t>
            </a:r>
            <a:br/>
            <a:r>
              <a:t>→ BRIDGE ($15K-$50K)</a:t>
            </a:r>
            <a:br/>
            <a:r>
              <a:t>→ Council ($5K-$25K/yr)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7315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SECONDARY: B2B Decision Maker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Senior executives (40-60)</a:t>
            </a:r>
            <a:br/>
            <a:r>
              <a:t>C-suite / VP / Board level</a:t>
            </a:r>
            <a:br/>
            <a:r>
              <a:t>500+ employees</a:t>
            </a:r>
            <a:br/>
            <a:r>
              <a:t>Signal-detected from B2C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Detected via: title change,</a:t>
            </a:r>
            <a:br/>
            <a:r>
              <a:t>large company, team purchase,</a:t>
            </a:r>
            <a:br/>
            <a:r>
              <a:t>consultation request,</a:t>
            </a:r>
            <a:br/>
            <a:r>
              <a:t>engagement spike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73152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TERTIARY: HR / L&amp;D 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HR Directors, L&amp;D leads</a:t>
            </a:r>
            <a:br/>
            <a:r>
              <a:t>Inbound via content &amp; events</a:t>
            </a:r>
            <a:br/>
            <a:r>
              <a:t>Seeking diagnostic tools</a:t>
            </a:r>
            <a:br/>
            <a:r>
              <a:t>for organizational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389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Reached through: webinars,</a:t>
            </a:r>
            <a:br/>
            <a:r>
              <a:t>podcast, newsletter,</a:t>
            </a:r>
            <a:br/>
            <a:r>
              <a:t>inbound content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 &amp; AI AGENTS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740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CTO / Product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Kevin Hong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Architecture, product decisions, revenue strategy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/ Orchestrator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NEXUS (AI)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Specs, coordination, guardrails, documentation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Trae (AI)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 implementation, deployment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Lead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Echo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Newsletter, LinkedIn, podcast, webinar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Events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Webinars, workshops, programs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Website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Valentina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Vercel publishing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Sequences, lead management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Xuemei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Podcast + webinar writing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BD /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James /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Outbound, proposals, account management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Interns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Vanjulla, Ava, Hareesha...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Podcast, intelligence, platform content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Key advantage: AI-augmented team. NEXUS, Trae, James are AI agents — not headcount.</a:t>
            </a:r>
            <a:br/>
            <a:r>
              <a:t>The human team is 7 people producing output equivalent to a 20+ person marketing department.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3F"/>
                </a:solidFill>
                <a:latin typeface="Calibri"/>
              </a:defRPr>
            </a:pPr>
            <a:r>
              <a:t>Built to date (July 2026):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Complete product architecture: 3 platforms (WAVE + VISTA + DEX AI)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Detailed BRD: 685-line specification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Intelligence layer spec: AI-native design with DeepSeek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6 page specs fully expanded: 393 tickets, 1,241 hours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HTML prototype with LYC brand design system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GitHub repository with Next.js application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Vercel deployment (live)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✅ Database schema designed (Supabase)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F3F"/>
                </a:solidFill>
                <a:latin typeface="Calibri"/>
              </a:defRPr>
            </a:pPr>
            <a:r>
              <a:t>Next milestones: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Next 90 days: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WAVE MVP operational (Calendar + Templates + Distribution)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First webinar planned and executed through WAVE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500+ contacts in mailing lists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First automated email sequences live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Next 6 months: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B2C Journey Engine operational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B2B signal detection live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First WAVE-sourced B2B engagement closed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Next 18 months: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$1M+ in attributable revenue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Document the playbook for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INTERNAL STAKEHOLDER BLUEPRINT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86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Interest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WAVE View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Cadence</a:t>
                      </a:r>
                    </a:p>
                  </a:txBody>
                  <a:tcPr>
                    <a:solidFill>
                      <a:srgbClr val="0A1F3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Kevin (CTO)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Revenue,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+ Revenue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Echo (Content)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Editorial calendar, distribution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Calendar + Distribution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Carl (Events)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Event pipeline, registrations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Events + Registration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Valentina (Web)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Website publishing, SEO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+ Analytics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Maria (Email)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Sequences, lead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Distribution + Journey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Xuemei (Scripts)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pipeline, deadlines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Calendar + Templates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James/BD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leads,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B2B Signal Detection +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Interns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Content production, research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Templates + Repurposing + Distribution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Each stakeholder sees a personalized WAVE view — no generic dashboard.</a:t>
            </a:r>
            <a:br/>
            <a:r>
              <a:t>Role-based filtering, priority-first layout, real-time data from Supabase.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WAVE is internal marketing infrastructure. Not for sale. Not SaaS.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Development cost: ~$5K  |  Running cost: ~$330/month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Target: $1M+ in attributable revenue within 18 months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moat isn't the software — it's the integration of diagnostics,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content, AI, and domain expertise that no off-the-shelf tool can replicate.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LYC Partners  |  Confidential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